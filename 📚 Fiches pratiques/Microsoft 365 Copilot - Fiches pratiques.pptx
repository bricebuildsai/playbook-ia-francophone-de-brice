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E2A46-3C01-4642-AF23-702356E7B525}" v="3" dt="2026-08-14T09:11:05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764" autoAdjust="0"/>
  </p:normalViewPr>
  <p:slideViewPr>
    <p:cSldViewPr snapToGrid="0">
      <p:cViewPr varScale="1">
        <p:scale>
          <a:sx n="56" d="100"/>
          <a:sy n="56" d="100"/>
        </p:scale>
        <p:origin x="7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ce DARDEAU" userId="edde95d7-c4a1-4490-8328-12bad08e1973" providerId="ADAL" clId="{2F8F3D64-CC20-4969-B309-5491ED3CB641}"/>
    <pc:docChg chg="custSel mod addSld modSld sldOrd">
      <pc:chgData name="Brice DARDEAU" userId="edde95d7-c4a1-4490-8328-12bad08e1973" providerId="ADAL" clId="{2F8F3D64-CC20-4969-B309-5491ED3CB641}" dt="2026-08-14T09:11:05.928" v="498"/>
      <pc:docMkLst>
        <pc:docMk/>
      </pc:docMkLst>
      <pc:sldChg chg="modSp new mod">
        <pc:chgData name="Brice DARDEAU" userId="edde95d7-c4a1-4490-8328-12bad08e1973" providerId="ADAL" clId="{2F8F3D64-CC20-4969-B309-5491ED3CB641}" dt="2026-08-12T14:29:12.575" v="254" actId="26606"/>
        <pc:sldMkLst>
          <pc:docMk/>
          <pc:sldMk cId="629074919" sldId="256"/>
        </pc:sldMkLst>
        <pc:spChg chg="mod">
          <ac:chgData name="Brice DARDEAU" userId="edde95d7-c4a1-4490-8328-12bad08e1973" providerId="ADAL" clId="{2F8F3D64-CC20-4969-B309-5491ED3CB641}" dt="2026-08-12T14:29:12.575" v="254" actId="26606"/>
          <ac:spMkLst>
            <pc:docMk/>
            <pc:sldMk cId="629074919" sldId="256"/>
            <ac:spMk id="2" creationId="{F144EF28-982F-1EEC-997F-F424585E6C04}"/>
          </ac:spMkLst>
        </pc:spChg>
        <pc:spChg chg="mod">
          <ac:chgData name="Brice DARDEAU" userId="edde95d7-c4a1-4490-8328-12bad08e1973" providerId="ADAL" clId="{2F8F3D64-CC20-4969-B309-5491ED3CB641}" dt="2026-08-12T14:29:12.575" v="254" actId="26606"/>
          <ac:spMkLst>
            <pc:docMk/>
            <pc:sldMk cId="629074919" sldId="256"/>
            <ac:spMk id="3" creationId="{400F56CF-A109-649E-3D54-EEFE41227DF6}"/>
          </ac:spMkLst>
        </pc:spChg>
      </pc:sldChg>
      <pc:sldChg chg="addSp modSp new mod ord modNotesTx">
        <pc:chgData name="Brice DARDEAU" userId="edde95d7-c4a1-4490-8328-12bad08e1973" providerId="ADAL" clId="{2F8F3D64-CC20-4969-B309-5491ED3CB641}" dt="2026-08-14T08:57:34.526" v="495" actId="20577"/>
        <pc:sldMkLst>
          <pc:docMk/>
          <pc:sldMk cId="190051514" sldId="257"/>
        </pc:sldMkLst>
        <pc:spChg chg="mod">
          <ac:chgData name="Brice DARDEAU" userId="edde95d7-c4a1-4490-8328-12bad08e1973" providerId="ADAL" clId="{2F8F3D64-CC20-4969-B309-5491ED3CB641}" dt="2026-08-14T08:35:01.332" v="342" actId="6549"/>
          <ac:spMkLst>
            <pc:docMk/>
            <pc:sldMk cId="190051514" sldId="257"/>
            <ac:spMk id="2" creationId="{BF9FDCD3-D0C5-A200-C5D5-79B6C7CFB25E}"/>
          </ac:spMkLst>
        </pc:spChg>
        <pc:spChg chg="mod">
          <ac:chgData name="Brice DARDEAU" userId="edde95d7-c4a1-4490-8328-12bad08e1973" providerId="ADAL" clId="{2F8F3D64-CC20-4969-B309-5491ED3CB641}" dt="2026-08-14T08:56:15.238" v="493" actId="313"/>
          <ac:spMkLst>
            <pc:docMk/>
            <pc:sldMk cId="190051514" sldId="257"/>
            <ac:spMk id="3" creationId="{2917521E-B885-8C46-3EB9-08DBB3C6B5A5}"/>
          </ac:spMkLst>
        </pc:spChg>
        <pc:spChg chg="add mod">
          <ac:chgData name="Brice DARDEAU" userId="edde95d7-c4a1-4490-8328-12bad08e1973" providerId="ADAL" clId="{2F8F3D64-CC20-4969-B309-5491ED3CB641}" dt="2026-08-14T08:52:39.260" v="463" actId="20577"/>
          <ac:spMkLst>
            <pc:docMk/>
            <pc:sldMk cId="190051514" sldId="257"/>
            <ac:spMk id="4" creationId="{6AD85851-B1E3-A644-E997-F07BA464DE4B}"/>
          </ac:spMkLst>
        </pc:spChg>
        <pc:graphicFrameChg chg="add mod modGraphic">
          <ac:chgData name="Brice DARDEAU" userId="edde95d7-c4a1-4490-8328-12bad08e1973" providerId="ADAL" clId="{2F8F3D64-CC20-4969-B309-5491ED3CB641}" dt="2026-08-14T08:33:46.111" v="341" actId="6549"/>
          <ac:graphicFrameMkLst>
            <pc:docMk/>
            <pc:sldMk cId="190051514" sldId="257"/>
            <ac:graphicFrameMk id="5" creationId="{E7108A29-79FB-93B3-E974-3FB2C72D41FC}"/>
          </ac:graphicFrameMkLst>
        </pc:graphicFrameChg>
      </pc:sldChg>
      <pc:sldChg chg="addSp delSp modSp new mod">
        <pc:chgData name="Brice DARDEAU" userId="edde95d7-c4a1-4490-8328-12bad08e1973" providerId="ADAL" clId="{2F8F3D64-CC20-4969-B309-5491ED3CB641}" dt="2026-08-14T08:51:25.286" v="453" actId="1076"/>
        <pc:sldMkLst>
          <pc:docMk/>
          <pc:sldMk cId="3176093796" sldId="258"/>
        </pc:sldMkLst>
        <pc:spChg chg="mod">
          <ac:chgData name="Brice DARDEAU" userId="edde95d7-c4a1-4490-8328-12bad08e1973" providerId="ADAL" clId="{2F8F3D64-CC20-4969-B309-5491ED3CB641}" dt="2026-08-12T14:15:58.244" v="162" actId="20577"/>
          <ac:spMkLst>
            <pc:docMk/>
            <pc:sldMk cId="3176093796" sldId="258"/>
            <ac:spMk id="2" creationId="{FE13FC0F-DF73-3FED-C241-7D45D96505F9}"/>
          </ac:spMkLst>
        </pc:spChg>
        <pc:spChg chg="add del mod">
          <ac:chgData name="Brice DARDEAU" userId="edde95d7-c4a1-4490-8328-12bad08e1973" providerId="ADAL" clId="{2F8F3D64-CC20-4969-B309-5491ED3CB641}" dt="2026-08-12T14:16:14.802" v="167" actId="27636"/>
          <ac:spMkLst>
            <pc:docMk/>
            <pc:sldMk cId="3176093796" sldId="258"/>
            <ac:spMk id="3" creationId="{B8C228AD-4848-FDA5-5C4E-44C570BD3201}"/>
          </ac:spMkLst>
        </pc:spChg>
        <pc:graphicFrameChg chg="add mod">
          <ac:chgData name="Brice DARDEAU" userId="edde95d7-c4a1-4490-8328-12bad08e1973" providerId="ADAL" clId="{2F8F3D64-CC20-4969-B309-5491ED3CB641}" dt="2026-08-14T08:51:25.286" v="453" actId="1076"/>
          <ac:graphicFrameMkLst>
            <pc:docMk/>
            <pc:sldMk cId="3176093796" sldId="258"/>
            <ac:graphicFrameMk id="5" creationId="{827348E1-D997-CF42-C3A1-BAFF14891A67}"/>
          </ac:graphicFrameMkLst>
        </pc:graphicFrameChg>
      </pc:sldChg>
      <pc:sldChg chg="addSp delSp modSp new mod">
        <pc:chgData name="Brice DARDEAU" userId="edde95d7-c4a1-4490-8328-12bad08e1973" providerId="ADAL" clId="{2F8F3D64-CC20-4969-B309-5491ED3CB641}" dt="2026-08-12T14:17:12.100" v="202"/>
        <pc:sldMkLst>
          <pc:docMk/>
          <pc:sldMk cId="1500357848" sldId="259"/>
        </pc:sldMkLst>
        <pc:spChg chg="mod">
          <ac:chgData name="Brice DARDEAU" userId="edde95d7-c4a1-4490-8328-12bad08e1973" providerId="ADAL" clId="{2F8F3D64-CC20-4969-B309-5491ED3CB641}" dt="2026-08-12T14:16:58.554" v="201" actId="20577"/>
          <ac:spMkLst>
            <pc:docMk/>
            <pc:sldMk cId="1500357848" sldId="259"/>
            <ac:spMk id="2" creationId="{8A277D37-471A-D029-5F00-807FD31853D6}"/>
          </ac:spMkLst>
        </pc:spChg>
        <pc:graphicFrameChg chg="add mod">
          <ac:chgData name="Brice DARDEAU" userId="edde95d7-c4a1-4490-8328-12bad08e1973" providerId="ADAL" clId="{2F8F3D64-CC20-4969-B309-5491ED3CB641}" dt="2026-08-12T14:17:12.100" v="202"/>
          <ac:graphicFrameMkLst>
            <pc:docMk/>
            <pc:sldMk cId="1500357848" sldId="259"/>
            <ac:graphicFrameMk id="4" creationId="{A4D22841-4A1D-6F7D-E47A-3014C2055767}"/>
          </ac:graphicFrameMkLst>
        </pc:graphicFrameChg>
      </pc:sldChg>
      <pc:sldChg chg="addSp delSp modSp new mod">
        <pc:chgData name="Brice DARDEAU" userId="edde95d7-c4a1-4490-8328-12bad08e1973" providerId="ADAL" clId="{2F8F3D64-CC20-4969-B309-5491ED3CB641}" dt="2026-08-12T14:18:03.566" v="208"/>
        <pc:sldMkLst>
          <pc:docMk/>
          <pc:sldMk cId="1603015613" sldId="260"/>
        </pc:sldMkLst>
        <pc:spChg chg="mod">
          <ac:chgData name="Brice DARDEAU" userId="edde95d7-c4a1-4490-8328-12bad08e1973" providerId="ADAL" clId="{2F8F3D64-CC20-4969-B309-5491ED3CB641}" dt="2026-08-12T14:17:51.580" v="206"/>
          <ac:spMkLst>
            <pc:docMk/>
            <pc:sldMk cId="1603015613" sldId="260"/>
            <ac:spMk id="2" creationId="{13C25D6E-1CD8-31EB-7FA7-57B06F0F71F1}"/>
          </ac:spMkLst>
        </pc:spChg>
        <pc:graphicFrameChg chg="add mod">
          <ac:chgData name="Brice DARDEAU" userId="edde95d7-c4a1-4490-8328-12bad08e1973" providerId="ADAL" clId="{2F8F3D64-CC20-4969-B309-5491ED3CB641}" dt="2026-08-12T14:18:03.566" v="208"/>
          <ac:graphicFrameMkLst>
            <pc:docMk/>
            <pc:sldMk cId="1603015613" sldId="260"/>
            <ac:graphicFrameMk id="5" creationId="{B728B686-9F68-1E4F-D30E-08DB6388046B}"/>
          </ac:graphicFrameMkLst>
        </pc:graphicFrameChg>
      </pc:sldChg>
      <pc:sldChg chg="addSp delSp modSp new mod">
        <pc:chgData name="Brice DARDEAU" userId="edde95d7-c4a1-4490-8328-12bad08e1973" providerId="ADAL" clId="{2F8F3D64-CC20-4969-B309-5491ED3CB641}" dt="2026-08-12T14:21:14.571" v="252"/>
        <pc:sldMkLst>
          <pc:docMk/>
          <pc:sldMk cId="196690241" sldId="261"/>
        </pc:sldMkLst>
        <pc:spChg chg="mod">
          <ac:chgData name="Brice DARDEAU" userId="edde95d7-c4a1-4490-8328-12bad08e1973" providerId="ADAL" clId="{2F8F3D64-CC20-4969-B309-5491ED3CB641}" dt="2026-08-12T14:18:39.256" v="235" actId="20577"/>
          <ac:spMkLst>
            <pc:docMk/>
            <pc:sldMk cId="196690241" sldId="261"/>
            <ac:spMk id="2" creationId="{0B9B9F09-D276-FE4E-FD3B-7BAE63CA9A90}"/>
          </ac:spMkLst>
        </pc:spChg>
        <pc:spChg chg="add del mod">
          <ac:chgData name="Brice DARDEAU" userId="edde95d7-c4a1-4490-8328-12bad08e1973" providerId="ADAL" clId="{2F8F3D64-CC20-4969-B309-5491ED3CB641}" dt="2026-08-12T14:21:14.571" v="252"/>
          <ac:spMkLst>
            <pc:docMk/>
            <pc:sldMk cId="196690241" sldId="261"/>
            <ac:spMk id="3" creationId="{3E742F5E-402C-FE72-1023-BA7F38A28CB5}"/>
          </ac:spMkLst>
        </pc:spChg>
      </pc:sldChg>
      <pc:sldChg chg="addSp delSp modSp new mod">
        <pc:chgData name="Brice DARDEAU" userId="edde95d7-c4a1-4490-8328-12bad08e1973" providerId="ADAL" clId="{2F8F3D64-CC20-4969-B309-5491ED3CB641}" dt="2026-08-14T09:11:05.928" v="498"/>
        <pc:sldMkLst>
          <pc:docMk/>
          <pc:sldMk cId="1667527558" sldId="262"/>
        </pc:sldMkLst>
        <pc:spChg chg="del">
          <ac:chgData name="Brice DARDEAU" userId="edde95d7-c4a1-4490-8328-12bad08e1973" providerId="ADAL" clId="{2F8F3D64-CC20-4969-B309-5491ED3CB641}" dt="2026-08-14T09:11:05.131" v="497" actId="478"/>
          <ac:spMkLst>
            <pc:docMk/>
            <pc:sldMk cId="1667527558" sldId="262"/>
            <ac:spMk id="3" creationId="{B5FA4C2F-203A-29B7-1E40-6928F1CF4B43}"/>
          </ac:spMkLst>
        </pc:spChg>
        <pc:graphicFrameChg chg="add mod">
          <ac:chgData name="Brice DARDEAU" userId="edde95d7-c4a1-4490-8328-12bad08e1973" providerId="ADAL" clId="{2F8F3D64-CC20-4969-B309-5491ED3CB641}" dt="2026-08-14T09:11:05.928" v="498"/>
          <ac:graphicFrameMkLst>
            <pc:docMk/>
            <pc:sldMk cId="1667527558" sldId="262"/>
            <ac:graphicFrameMk id="4" creationId="{C9567858-FC44-6B2C-B18B-9A5B292F86C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39AC6-EE5C-4337-90D3-B48645D8131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200F6-F6B4-486B-BAFD-FD5F1A6AAA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1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Tu es un assistant spécialisé dans la synthèse pédagogique.</a:t>
            </a:r>
            <a:br>
              <a:rPr lang="fr-FR" dirty="0"/>
            </a:br>
            <a:endParaRPr lang="fr-FR" dirty="0"/>
          </a:p>
          <a:p>
            <a:r>
              <a:rPr lang="fr-FR" dirty="0"/>
              <a:t>Contexte :</a:t>
            </a:r>
            <a:br>
              <a:rPr lang="fr-FR" dirty="0"/>
            </a:br>
            <a:endParaRPr lang="fr-FR" dirty="0"/>
          </a:p>
          <a:p>
            <a:r>
              <a:rPr lang="fr-FR" dirty="0"/>
              <a:t>Je crée des fiches pratiques sur Microsoft 365 </a:t>
            </a:r>
            <a:r>
              <a:rPr lang="fr-FR" dirty="0" err="1"/>
              <a:t>Copilot</a:t>
            </a:r>
            <a:r>
              <a:rPr lang="fr-FR" dirty="0"/>
              <a:t> à partir d’un parcours de formation et de ressources complémentaires.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Objectif :</a:t>
            </a:r>
            <a:br>
              <a:rPr lang="fr-FR" dirty="0"/>
            </a:br>
            <a:endParaRPr lang="fr-FR" dirty="0"/>
          </a:p>
          <a:p>
            <a:r>
              <a:rPr lang="fr-FR" dirty="0"/>
              <a:t>Aide-moi à structurer une fiche pratique claire et actionnable sur [outil ou usage].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Public :</a:t>
            </a:r>
            <a:br>
              <a:rPr lang="fr-FR" dirty="0"/>
            </a:br>
            <a:endParaRPr lang="fr-FR" dirty="0"/>
          </a:p>
          <a:p>
            <a:r>
              <a:rPr lang="fr-FR" dirty="0"/>
              <a:t>Utilisateurs métiers souhaitant comprendre rapidement comment utiliser </a:t>
            </a:r>
            <a:r>
              <a:rPr lang="fr-FR" dirty="0" err="1"/>
              <a:t>Copilot</a:t>
            </a:r>
            <a:r>
              <a:rPr lang="fr-FR" dirty="0"/>
              <a:t>.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Contraintes :</a:t>
            </a:r>
            <a:br>
              <a:rPr lang="fr-FR" dirty="0"/>
            </a:br>
            <a:endParaRPr lang="fr-FR" dirty="0"/>
          </a:p>
          <a:p>
            <a:r>
              <a:rPr lang="fr-FR" dirty="0"/>
              <a:t>Format synthétique, maximum 1 slide, avec bonnes pratiques, exemples d’invites et points de vigilance.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Format attendu :</a:t>
            </a:r>
            <a:br>
              <a:rPr lang="fr-FR" dirty="0"/>
            </a:br>
            <a:endParaRPr lang="fr-FR" dirty="0"/>
          </a:p>
          <a:p>
            <a:r>
              <a:rPr lang="fr-FR" dirty="0"/>
              <a:t>1. Objectif de la fiche</a:t>
            </a:r>
            <a:br>
              <a:rPr lang="fr-FR" dirty="0"/>
            </a:br>
            <a:endParaRPr lang="fr-FR" dirty="0"/>
          </a:p>
          <a:p>
            <a:r>
              <a:rPr lang="fr-FR" dirty="0"/>
              <a:t>2. Quand utiliser cet outil</a:t>
            </a:r>
            <a:br>
              <a:rPr lang="fr-FR" dirty="0"/>
            </a:br>
            <a:endParaRPr lang="fr-FR" dirty="0"/>
          </a:p>
          <a:p>
            <a:r>
              <a:rPr lang="fr-FR" dirty="0"/>
              <a:t>3. Étapes clés</a:t>
            </a:r>
            <a:br>
              <a:rPr lang="fr-FR" dirty="0"/>
            </a:br>
            <a:endParaRPr lang="fr-FR" dirty="0"/>
          </a:p>
          <a:p>
            <a:r>
              <a:rPr lang="fr-FR" dirty="0"/>
              <a:t>4. Exemple de prompt</a:t>
            </a:r>
            <a:br>
              <a:rPr lang="fr-FR" dirty="0"/>
            </a:br>
            <a:endParaRPr lang="fr-FR" dirty="0"/>
          </a:p>
          <a:p>
            <a:r>
              <a:rPr lang="fr-FR" dirty="0"/>
              <a:t>5. Bonnes pratiques</a:t>
            </a:r>
            <a:br>
              <a:rPr lang="fr-FR" dirty="0"/>
            </a:br>
            <a:endParaRPr lang="fr-FR" dirty="0"/>
          </a:p>
          <a:p>
            <a:r>
              <a:rPr lang="fr-FR" dirty="0"/>
              <a:t>6. Limites ou points d’attention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Ton :</a:t>
            </a:r>
            <a:br>
              <a:rPr lang="fr-FR" dirty="0"/>
            </a:br>
            <a:endParaRPr lang="fr-FR" dirty="0"/>
          </a:p>
          <a:p>
            <a:r>
              <a:rPr lang="fr-FR" dirty="0"/>
              <a:t>Professionnel, pédagogique et concret.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00F6-F6B4-486B-BAFD-FD5F1A6AAA3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13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FBEA7-A00F-BFF0-F369-3BD847A5B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3A4687-1613-C984-C929-1588DB51B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D315F1-D87B-7D9D-2487-0A9F6522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433D05-C818-343B-6FF4-388FE973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C4DB8B-B36F-4FB3-23F1-D0B87B17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89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737CC-DA17-F059-6124-A2D3AF3A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6D974E-748B-AC40-36C8-0615F01D5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5A2A84-B7E8-472F-1F48-8200BA0F4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7A505D-E221-F20A-C286-BE5DEAF2B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C562A3-7AE4-37A0-5C96-1C1DD42D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75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A8568-2E6A-9D96-C418-E9F0BDAD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B46661-025E-F8A5-57C3-1A288EBBF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4BBFDE-193A-9A11-1CF5-125C36EB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0768C4-2013-D179-3EB8-7082F168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C8CBF-36B2-AFB0-527F-286432BC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4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3BDDD-608F-B4BE-9581-251DEF7A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2C3B3-62FF-7258-E68C-4D5C929D7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9AA84C-FB47-A802-8931-C7DAD23DB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BED79A-15AD-4E53-FD65-E9943A42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34B376-A7BC-679E-7105-39442BD3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EB73F4-C8F6-6097-AB5A-AC4CBDDB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97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F7ADBE-4941-FD47-5F2B-F8AF88D3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2F30AE-7C08-31D4-4F74-BAF0252C6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6018C2-44DF-2B29-8D57-14F9EE81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94910F-EAEC-AE9E-4C1E-A2CBFF25F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5D883ED-635E-5817-674B-97064AC3D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1A56918-5DB0-456A-7370-F3CC00DD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38E074-4FE7-890D-AC4A-A190A0A1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8E66FEB-D6C9-78C0-259F-D06C5D71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15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12459-D80D-F876-BA3A-B29F3230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FA4597-03AD-B958-6DF4-1CA7B43D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12648B-E8F6-D5D8-6962-4AA98466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459CC5-FCBA-6286-F0DA-1A92C411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941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B69174-FD66-4078-D200-5A7E173A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07370C-F676-3C3B-4FC1-444117E2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0FF710-4E5F-5679-E08D-031A57B2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81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E945A-5A6A-C480-72B4-0BAE8367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D3C420-374F-0ACA-B4B3-549D50178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353059-BCC4-4782-83B6-41590FCF2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17E382-0F88-B4B9-EEE7-E983D92D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0E7F46-BF44-AF91-3DF9-9096CB5C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964D2E-DE11-07BB-C780-C8346937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64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DDC0C-6DA3-47F4-C69E-DA9E1A16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683FA04-28D5-2F47-52CD-6AD7D7BA8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FE8FBB-AEDA-496C-2467-A1EC3A8A3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CB28A7-5BFC-A89F-55CD-B80E2291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723B14-1A23-C057-7A6F-07DF698C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D97502-C295-98C2-DD82-5DF4212A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13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89ED0-C546-7C65-EB49-4F6D3A01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7DF55E-F644-86F1-F12E-E2D9237FA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56EB2D-8380-C708-6BA1-C81A79A7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378FD5-7A08-98EE-5D22-D42844E9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52C74D-E791-949D-AAD7-497D4A9A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54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52C7BA0-0B6E-3A36-43A9-D08C05791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EEFF64-0FDF-BC9F-1F54-E83D07A68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02B7F5-D9EC-9C06-1C91-1E5B5901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9EAB84-584E-6B5E-A262-E7801583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BD4AF1-EBA2-3949-93EE-2B97D37C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29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60C4A6-D55B-A434-C88C-59C809EC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E93B1A-290F-4475-D48C-5621D7E0B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6C7E89-2042-2BE6-19E7-46CDA66C3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7C388-20F1-4F28-BFBC-4148C6DE27E3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3D32C2-6D9A-DFF2-37EA-2F8C7915B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80158F-7223-D43B-0D69-9ACE4AAEB3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B0B45-EE4C-4809-B966-31D7050AD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18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FDCD3-D0C5-A200-C5D5-79B6C7CFB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Bien écrire une invite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17521E-B885-8C46-3EB9-08DBB3C6B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04" y="1559917"/>
            <a:ext cx="6342186" cy="475252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La « méthode classique » </a:t>
            </a:r>
            <a:r>
              <a:rPr lang="fr-FR" dirty="0" err="1"/>
              <a:t>COPILOT</a:t>
            </a:r>
            <a:endParaRPr lang="fr-FR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E7108A29-79FB-93B3-E974-3FB2C72D4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835549"/>
              </p:ext>
            </p:extLst>
          </p:nvPr>
        </p:nvGraphicFramePr>
        <p:xfrm>
          <a:off x="321504" y="2061295"/>
          <a:ext cx="11548991" cy="3487108"/>
        </p:xfrm>
        <a:graphic>
          <a:graphicData uri="http://schemas.openxmlformats.org/drawingml/2006/table">
            <a:tbl>
              <a:tblPr/>
              <a:tblGrid>
                <a:gridCol w="2193977">
                  <a:extLst>
                    <a:ext uri="{9D8B030D-6E8A-4147-A177-3AD203B41FA5}">
                      <a16:colId xmlns:a16="http://schemas.microsoft.com/office/drawing/2014/main" val="1976280606"/>
                    </a:ext>
                  </a:extLst>
                </a:gridCol>
                <a:gridCol w="3585784">
                  <a:extLst>
                    <a:ext uri="{9D8B030D-6E8A-4147-A177-3AD203B41FA5}">
                      <a16:colId xmlns:a16="http://schemas.microsoft.com/office/drawing/2014/main" val="2912877123"/>
                    </a:ext>
                  </a:extLst>
                </a:gridCol>
                <a:gridCol w="5769230">
                  <a:extLst>
                    <a:ext uri="{9D8B030D-6E8A-4147-A177-3AD203B41FA5}">
                      <a16:colId xmlns:a16="http://schemas.microsoft.com/office/drawing/2014/main" val="922092055"/>
                    </a:ext>
                  </a:extLst>
                </a:gridCol>
              </a:tblGrid>
              <a:tr h="278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 dirty="0">
                          <a:effectLst/>
                        </a:rPr>
                        <a:t>Élément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 dirty="0">
                          <a:effectLst/>
                        </a:rPr>
                        <a:t>Question à se poser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 dirty="0">
                          <a:effectLst/>
                        </a:rPr>
                        <a:t>Exemple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873810"/>
                  </a:ext>
                </a:extLst>
              </a:tr>
              <a:tr h="4854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b="1" dirty="0">
                          <a:effectLst/>
                        </a:rPr>
                        <a:t>C  -  Couac</a:t>
                      </a:r>
                      <a:endParaRPr lang="fr-FR" sz="1600" dirty="0">
                        <a:effectLst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De quoi parle-t-on ?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Je prépare une présentation sur l’usage de </a:t>
                      </a:r>
                      <a:r>
                        <a:rPr lang="fr-FR" sz="1600" dirty="0" err="1">
                          <a:effectLst/>
                        </a:rPr>
                        <a:t>Copilot</a:t>
                      </a:r>
                      <a:r>
                        <a:rPr lang="fr-FR" sz="1600" dirty="0">
                          <a:effectLst/>
                        </a:rPr>
                        <a:t> en entreprise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905231"/>
                  </a:ext>
                </a:extLst>
              </a:tr>
              <a:tr h="278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</a:rPr>
                        <a:t>O  -  Objectif</a:t>
                      </a:r>
                      <a:endParaRPr lang="fr-FR" sz="1600" dirty="0">
                        <a:effectLst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Que doit produire Copilot ?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Propose un plan de présentation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925968"/>
                  </a:ext>
                </a:extLst>
              </a:tr>
              <a:tr h="48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</a:rPr>
                        <a:t>P   -  Public</a:t>
                      </a:r>
                      <a:endParaRPr lang="fr-FR" sz="1600" dirty="0">
                        <a:effectLst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Pour qui est le résultat ?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À destination de managers métiers non techniques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13712"/>
                  </a:ext>
                </a:extLst>
              </a:tr>
              <a:tr h="48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</a:rPr>
                        <a:t>I     -  Informations</a:t>
                      </a:r>
                      <a:endParaRPr lang="fr-FR" sz="1600" dirty="0">
                        <a:effectLst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Quelles sources utiliser ?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Utilise les documents fournis et les notes de formation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378513"/>
                  </a:ext>
                </a:extLst>
              </a:tr>
              <a:tr h="48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</a:rPr>
                        <a:t>L    -  Limites</a:t>
                      </a:r>
                      <a:endParaRPr lang="fr-FR" sz="1600" dirty="0">
                        <a:effectLst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Quelles contraintes respecter ?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Maximum 10 slides, style synthétique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104649"/>
                  </a:ext>
                </a:extLst>
              </a:tr>
              <a:tr h="48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</a:rPr>
                        <a:t>O   -  Organisation</a:t>
                      </a:r>
                      <a:endParaRPr lang="fr-FR" sz="1600" dirty="0">
                        <a:effectLst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Quel format de sortie ?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Tableau avec titre de slide, message clé, contenu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55672"/>
                  </a:ext>
                </a:extLst>
              </a:tr>
              <a:tr h="406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</a:rPr>
                        <a:t>T    -   Ton</a:t>
                      </a:r>
                      <a:endParaRPr lang="fr-FR" sz="1600" dirty="0">
                        <a:effectLst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Quel style adopter ?</a:t>
                      </a: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600" dirty="0">
                          <a:effectLst/>
                        </a:rPr>
                        <a:t>Professionnel, pédagogique et orienté action</a:t>
                      </a:r>
                      <a:endParaRPr lang="fr-FR" sz="1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3047" marR="83047" marT="41524" marB="4152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611823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6AD85851-B1E3-A644-E997-F07BA464DE4B}"/>
              </a:ext>
            </a:extLst>
          </p:cNvPr>
          <p:cNvSpPr txBox="1"/>
          <p:nvPr/>
        </p:nvSpPr>
        <p:spPr>
          <a:xfrm>
            <a:off x="2194560" y="5886450"/>
            <a:ext cx="737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Utiliser l’agent « Prompt Coach » pour améliorer vos inputs de contexte.</a:t>
            </a:r>
          </a:p>
        </p:txBody>
      </p:sp>
    </p:spTree>
    <p:extLst>
      <p:ext uri="{BB962C8B-B14F-4D97-AF65-F5344CB8AC3E}">
        <p14:creationId xmlns:p14="http://schemas.microsoft.com/office/powerpoint/2010/main" val="190051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4EF28-982F-1EEC-997F-F424585E6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Fiche pratique IA — </a:t>
            </a:r>
            <a:r>
              <a:rPr lang="fr-FR" dirty="0"/>
              <a:t>Copilot</a:t>
            </a:r>
            <a:r>
              <a:rPr lang="fr-FR"/>
              <a:t> pour PowerPoint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0F56CF-A109-649E-3D54-EEFE41227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Bien rédiger ses invites : méthode</a:t>
            </a:r>
            <a:r>
              <a:rPr lang="fr-FR"/>
              <a:t> COPILOT</a:t>
            </a:r>
            <a:r>
              <a:rPr lang="fr-FR" dirty="0"/>
              <a:t>, paramètres et workflow</a:t>
            </a:r>
            <a:endParaRPr lang="fr-FR"/>
          </a:p>
          <a:p>
            <a:r>
              <a:rPr lang="fr-FR"/>
              <a:t>Brice Dardeau — Série de fiches pratiques partagées sur le canal</a:t>
            </a:r>
          </a:p>
        </p:txBody>
      </p:sp>
    </p:spTree>
    <p:extLst>
      <p:ext uri="{BB962C8B-B14F-4D97-AF65-F5344CB8AC3E}">
        <p14:creationId xmlns:p14="http://schemas.microsoft.com/office/powerpoint/2010/main" val="62907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13FC0F-DF73-3FED-C241-7D45D9650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Powerpoint – Le workflow recommandé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C228AD-4848-FDA5-5C4E-44C570BD3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0643"/>
          </a:xfrm>
        </p:spPr>
        <p:txBody>
          <a:bodyPr>
            <a:normAutofit lnSpcReduction="10000"/>
          </a:bodyPr>
          <a:lstStyle/>
          <a:p>
            <a:r>
              <a:rPr lang="fr-FR" dirty="0" err="1"/>
              <a:t>Copilot</a:t>
            </a:r>
            <a:r>
              <a:rPr lang="fr-FR" dirty="0"/>
              <a:t> est plus efficace lorsqu’il est utilisé sur tout le cycle de vie de la présentation : cadrage, génération, amélioration, relecture et entraînement.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27348E1-D997-CF42-C3A1-BAFF14891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039731"/>
              </p:ext>
            </p:extLst>
          </p:nvPr>
        </p:nvGraphicFramePr>
        <p:xfrm>
          <a:off x="3847978" y="1350551"/>
          <a:ext cx="5021824" cy="5142324"/>
        </p:xfrm>
        <a:graphic>
          <a:graphicData uri="http://schemas.openxmlformats.org/drawingml/2006/table">
            <a:tbl>
              <a:tblPr/>
              <a:tblGrid>
                <a:gridCol w="1255456">
                  <a:extLst>
                    <a:ext uri="{9D8B030D-6E8A-4147-A177-3AD203B41FA5}">
                      <a16:colId xmlns:a16="http://schemas.microsoft.com/office/drawing/2014/main" val="3985980759"/>
                    </a:ext>
                  </a:extLst>
                </a:gridCol>
                <a:gridCol w="1255456">
                  <a:extLst>
                    <a:ext uri="{9D8B030D-6E8A-4147-A177-3AD203B41FA5}">
                      <a16:colId xmlns:a16="http://schemas.microsoft.com/office/drawing/2014/main" val="1086338129"/>
                    </a:ext>
                  </a:extLst>
                </a:gridCol>
                <a:gridCol w="1255456">
                  <a:extLst>
                    <a:ext uri="{9D8B030D-6E8A-4147-A177-3AD203B41FA5}">
                      <a16:colId xmlns:a16="http://schemas.microsoft.com/office/drawing/2014/main" val="3036893850"/>
                    </a:ext>
                  </a:extLst>
                </a:gridCol>
                <a:gridCol w="1255456">
                  <a:extLst>
                    <a:ext uri="{9D8B030D-6E8A-4147-A177-3AD203B41FA5}">
                      <a16:colId xmlns:a16="http://schemas.microsoft.com/office/drawing/2014/main" val="305187516"/>
                    </a:ext>
                  </a:extLst>
                </a:gridCol>
              </a:tblGrid>
              <a:tr h="174672">
                <a:tc>
                  <a:txBody>
                    <a:bodyPr/>
                    <a:lstStyle/>
                    <a:p>
                      <a:endParaRPr lang="fr-FR" sz="900"/>
                    </a:p>
                  </a:txBody>
                  <a:tcPr marL="43668" marR="43668" marT="21834" marB="21834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900"/>
                    </a:p>
                  </a:txBody>
                  <a:tcPr marL="43668" marR="43668" marT="21834" marB="21834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900"/>
                    </a:p>
                  </a:txBody>
                  <a:tcPr marL="43668" marR="43668" marT="21834" marB="21834"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900"/>
                    </a:p>
                  </a:txBody>
                  <a:tcPr marL="43668" marR="43668" marT="21834" marB="21834"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655361"/>
                  </a:ext>
                </a:extLst>
              </a:tr>
              <a:tr h="174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Étape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Objectif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Outil / fonction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Prompt exemple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50509"/>
                  </a:ext>
                </a:extLst>
              </a:tr>
              <a:tr h="82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1. Planifier la narration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Clarifier le message et la structure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Idea Coach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Aide-moi à structurer une présentation de 10 slides sur [sujet] pour [audience]. Propose un fil narratif clair avec messages clés.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29127"/>
                  </a:ext>
                </a:extLst>
              </a:tr>
              <a:tr h="56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2. Préparer les sources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Donner à Copilot une matière fiable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>
                          <a:effectLst/>
                        </a:rPr>
                        <a:t>Documents, liens, notes, fichiers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Utilise ces sources pour identifier les idées principales à intégrer dans la présentation.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70226"/>
                  </a:ext>
                </a:extLst>
              </a:tr>
              <a:tr h="698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3. Créer le premier jet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Générer une base exploitable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Copilot dans PowerPoint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Crée une présentation de 10 slides à partir de ces documents, avec un ton professionnel et orienté décision.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392800"/>
                  </a:ext>
                </a:extLst>
              </a:tr>
              <a:tr h="56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4. Affiner le contenu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Améliorer clarté, logique et synthèse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Copilot dans PowerPoint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Réduis le texte, rends les titres plus percutants et améliore la progression entre les slides.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100752"/>
                  </a:ext>
                </a:extLst>
              </a:tr>
              <a:tr h="82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5. Générer les notes orateur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Préparer la prise de parole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Notes du présentateur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Génère des notes de présentateur synthétiques pour chaque slide, adaptées à une présentation de 15 minutes.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554920"/>
                  </a:ext>
                </a:extLst>
              </a:tr>
              <a:tr h="50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6. Relire et s’entraîner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Sécuriser la qualité et la livraison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Speaker Coach / relecture Copilot</a:t>
                      </a: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dirty="0">
                          <a:effectLst/>
                        </a:rPr>
                        <a:t>Identifie les incohérences, les messages faibles et les points à clarifier avant présentation.</a:t>
                      </a:r>
                      <a:endParaRPr lang="fr-FR" sz="5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3668" marR="43668" marT="21834" marB="218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160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09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277D37-471A-D029-5F00-807FD318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Marguerite des fonctionnalités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4D22841-4A1D-6F7D-E47A-3014C20557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582194"/>
          <a:ext cx="10515600" cy="838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01017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050" b="0" i="0">
                          <a:effectLst/>
                          <a:latin typeface="Segoe UI" panose="020B0502040204020203" pitchFamily="34" charset="0"/>
                        </a:rPr>
                        <a:t>générer des présentations à partir d’une invite, améliorer le contenu, proposer des visuels, créer des notes orateur et aider à préparer la présentation. Microsoft indique également que les présentations peuvent être générées à partir de fichiers tels que Word, Excel, Loop ou PDF en les joignant dans le chat Copilot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011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05831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357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C25D6E-1CD8-31EB-7FA7-57B06F0F7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paramètres à préciser dans une invite pour PowerPoint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728B686-9F68-1E4F-D30E-08DB6388046B}"/>
              </a:ext>
            </a:extLst>
          </p:cNvPr>
          <p:cNvGraphicFramePr>
            <a:graphicFrameLocks noGrp="1"/>
          </p:cNvGraphicFramePr>
          <p:nvPr/>
        </p:nvGraphicFramePr>
        <p:xfrm>
          <a:off x="2987097" y="1574130"/>
          <a:ext cx="6217806" cy="4854328"/>
        </p:xfrm>
        <a:graphic>
          <a:graphicData uri="http://schemas.openxmlformats.org/drawingml/2006/table">
            <a:tbl>
              <a:tblPr/>
              <a:tblGrid>
                <a:gridCol w="2072602">
                  <a:extLst>
                    <a:ext uri="{9D8B030D-6E8A-4147-A177-3AD203B41FA5}">
                      <a16:colId xmlns:a16="http://schemas.microsoft.com/office/drawing/2014/main" val="430866170"/>
                    </a:ext>
                  </a:extLst>
                </a:gridCol>
                <a:gridCol w="2072602">
                  <a:extLst>
                    <a:ext uri="{9D8B030D-6E8A-4147-A177-3AD203B41FA5}">
                      <a16:colId xmlns:a16="http://schemas.microsoft.com/office/drawing/2014/main" val="2924281610"/>
                    </a:ext>
                  </a:extLst>
                </a:gridCol>
                <a:gridCol w="2072602">
                  <a:extLst>
                    <a:ext uri="{9D8B030D-6E8A-4147-A177-3AD203B41FA5}">
                      <a16:colId xmlns:a16="http://schemas.microsoft.com/office/drawing/2014/main" val="2303828760"/>
                    </a:ext>
                  </a:extLst>
                </a:gridCol>
              </a:tblGrid>
              <a:tr h="216272">
                <a:tc>
                  <a:txBody>
                    <a:bodyPr/>
                    <a:lstStyle/>
                    <a:p>
                      <a:endParaRPr lang="fr-FR" sz="1100"/>
                    </a:p>
                  </a:txBody>
                  <a:tcPr marL="54068" marR="54068" marT="27034" marB="27034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/>
                    </a:p>
                  </a:txBody>
                  <a:tcPr marL="54068" marR="54068" marT="27034" marB="27034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100"/>
                    </a:p>
                  </a:txBody>
                  <a:tcPr marL="54068" marR="54068" marT="27034" marB="27034"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585227"/>
                  </a:ext>
                </a:extLst>
              </a:tr>
              <a:tr h="21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Paramètre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Ce qu’il faut spécifier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Exemple d’invite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26050"/>
                  </a:ext>
                </a:extLst>
              </a:tr>
              <a:tr h="540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Objectif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Informer, convaincre, former, décider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L’objectif est de convaincre un comité de lancer une expérimentation Copilot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717216"/>
                  </a:ext>
                </a:extLst>
              </a:tr>
              <a:tr h="37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Nombre de diapositives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Volume cible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Limite la présentation à 10 diapositives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27893"/>
                  </a:ext>
                </a:extLst>
              </a:tr>
              <a:tr h="540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Audience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Profil et niveau de connaissance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La cible est composée de managers métiers avec peu de connaissances IA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52314"/>
                  </a:ext>
                </a:extLst>
              </a:tr>
              <a:tr h="37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Ton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Style de communication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Adopte un ton professionnel, pédagogique et orienté action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501075"/>
                  </a:ext>
                </a:extLst>
              </a:tr>
              <a:tr h="37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Niveau de détail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Synthétique ou approfondi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Reste synthétique, avec 3 idées maximum par slide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96378"/>
                  </a:ext>
                </a:extLst>
              </a:tr>
              <a:tr h="37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Style visuel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Type de mise en page ou d’illustration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Utilise des slides aérées avec peu de texte et des visuels simples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902147"/>
                  </a:ext>
                </a:extLst>
              </a:tr>
              <a:tr h="37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Sources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Fichiers ou contenus à utiliser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Utilise les documents fournis comme sources principales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78204"/>
                  </a:ext>
                </a:extLst>
              </a:tr>
              <a:tr h="540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Contraintes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Temps, marque, confidentialité, vocabulaire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Prévois une présentation de 15 minutes et évite les termes trop techniques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612266"/>
                  </a:ext>
                </a:extLst>
              </a:tr>
              <a:tr h="40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Format attendu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Plan, tableau, deck, notes</a:t>
                      </a: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Propose un plan slide par slide avec titre, message clé et contenu</a:t>
                      </a:r>
                      <a:endParaRPr lang="fr-FR" sz="6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068" marR="54068" marT="27034" marB="270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26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01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9B9F09-D276-FE4E-FD3B-7BAE63CA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prompt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742F5E-402C-FE72-1023-BA7F38A2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Planifier avec </a:t>
            </a:r>
            <a:r>
              <a:rPr lang="fr-FR" dirty="0" err="1"/>
              <a:t>Idea</a:t>
            </a:r>
            <a:r>
              <a:rPr lang="fr-FR" dirty="0"/>
              <a:t> Coach</a:t>
            </a:r>
          </a:p>
          <a:p>
            <a:r>
              <a:rPr lang="fr-FR" dirty="0"/>
              <a:t>Créer à partir de sources</a:t>
            </a:r>
          </a:p>
          <a:p>
            <a:r>
              <a:rPr lang="fr-FR" dirty="0"/>
              <a:t>Améliorer un deck existant</a:t>
            </a:r>
          </a:p>
          <a:p>
            <a:r>
              <a:rPr lang="fr-FR" dirty="0"/>
              <a:t>Générer les notes orateur</a:t>
            </a:r>
          </a:p>
          <a:p>
            <a:r>
              <a:rPr lang="fr-FR" dirty="0"/>
              <a:t>S’entraîner avec Speaker Coach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690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B9F21-D924-F908-AB6E-9E35CD98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9567858-FC44-6B2C-B18B-9A5B292F86CE}"/>
              </a:ext>
            </a:extLst>
          </p:cNvPr>
          <p:cNvGraphicFramePr>
            <a:graphicFrameLocks noGrp="1"/>
          </p:cNvGraphicFramePr>
          <p:nvPr/>
        </p:nvGraphicFramePr>
        <p:xfrm>
          <a:off x="844550" y="2692400"/>
          <a:ext cx="10502900" cy="147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397399028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924365855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119429486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Paramètre</a:t>
                      </a:r>
                      <a:endParaRPr lang="fr-FR" sz="1100" b="1" i="0" u="none" strike="noStrike">
                        <a:solidFill>
                          <a:srgbClr val="0B0612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Éléments à spécifier</a:t>
                      </a:r>
                      <a:endParaRPr lang="fr-FR" sz="1100" b="1" i="0" u="none" strike="noStrike">
                        <a:solidFill>
                          <a:srgbClr val="0B0612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Exemple d’invite pour Idea Coach</a:t>
                      </a:r>
                      <a:endParaRPr lang="fr-FR" sz="1100" b="1" i="0" u="none" strike="noStrike">
                        <a:solidFill>
                          <a:srgbClr val="0B0612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43568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Nombre de diapositives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Nombre cible de diapositives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Conservez-le sur 10 diapositives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0758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Ton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Style de communication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Professionnel et piloté par les données ou Conversationnel et optimiste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635614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Audience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Qui est dans la chambre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Cadres de haut niveau avec un temps limité ou responsables techniques avec une connaissance approfondie des produits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1881962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Style visuel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Disposition et direction de l’image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Utiliser des dispositions de texte minimales ou Générer des images qui montrent diverses équipes globales au travail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06416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Ressources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Les "/"</a:t>
                      </a:r>
                      <a:endParaRPr lang="fr-FR" sz="1100" b="0" i="0" u="none" strike="noStrike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/Documents modèles et sources.</a:t>
                      </a:r>
                      <a:endParaRPr lang="fr-FR" sz="1100" b="0" i="0" u="none" strike="noStrike" dirty="0">
                        <a:solidFill>
                          <a:srgbClr val="FFF7F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9859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5275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886</Words>
  <Application>Microsoft Office PowerPoint</Application>
  <PresentationFormat>Grand écran</PresentationFormat>
  <Paragraphs>142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Thème Office</vt:lpstr>
      <vt:lpstr>Bien écrire une invite</vt:lpstr>
      <vt:lpstr>Fiche pratique IA — Copilot pour PowerPoint</vt:lpstr>
      <vt:lpstr>Powerpoint – Le workflow recommandé</vt:lpstr>
      <vt:lpstr>Marguerite des fonctionnalités</vt:lpstr>
      <vt:lpstr>Les paramètres à préciser dans une invite pour PowerPoint</vt:lpstr>
      <vt:lpstr>Exemple de prompt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BRICE DARDEAU</dc:creator>
  <cp:lastModifiedBy>BRICE DARDEAU</cp:lastModifiedBy>
  <cp:revision>1</cp:revision>
  <dcterms:created xsi:type="dcterms:W3CDTF">2026-08-12T14:08:52Z</dcterms:created>
  <dcterms:modified xsi:type="dcterms:W3CDTF">2026-08-14T09:11:10Z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2026-08-12T14:11:59Z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b6276536-e7dc-41d4-9d71-7aaff0741051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